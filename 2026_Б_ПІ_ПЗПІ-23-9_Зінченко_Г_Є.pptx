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4"/>
  </p:notes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  <p:sldId id="263" r:id="rId9"/>
    <p:sldId id="271" r:id="rId10"/>
    <p:sldId id="272" r:id="rId11"/>
    <p:sldId id="273" r:id="rId12"/>
    <p:sldId id="274" r:id="rId13"/>
  </p:sldIdLst>
  <p:sldSz cx="9144000" cy="5143500" type="screen16x9"/>
  <p:notesSz cx="6858000" cy="9144000"/>
  <p:embeddedFontLst>
    <p:embeddedFont>
      <p:font typeface="Crimson Text" panose="020B0604020202020204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-52"/>
      <p:regular r:id="rId23"/>
      <p:bold r:id="rId24"/>
      <p:italic r:id="rId25"/>
      <p:boldItalic r:id="rId26"/>
    </p:embeddedFont>
    <p:embeddedFont>
      <p:font typeface="Vidaloka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C5437D-9D59-4E6D-8C16-D147194F9B7F}">
  <a:tblStyle styleId="{3FC5437D-9D59-4E6D-8C16-D147194F9B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4660"/>
  </p:normalViewPr>
  <p:slideViewPr>
    <p:cSldViewPr snapToGrid="0">
      <p:cViewPr>
        <p:scale>
          <a:sx n="125" d="100"/>
          <a:sy n="125" d="100"/>
        </p:scale>
        <p:origin x="10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B484323-5B43-0AC8-44F7-42999E9D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6E68C962-B714-8F1E-DB0A-442435578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2F0D6EFB-E9C9-D6D7-B152-08FE415A79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03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92A66320-519E-79E3-1BF9-F0C0B0F4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ACAF562A-219A-28EA-418F-F872E0F2B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C4C7A8D0-3584-BB94-E94F-17AB11954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361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742F293-ECA9-2E32-A7DF-E74DA9FC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987B625E-78D6-47C7-C56C-20680C4CE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5D074A29-9FAB-F151-DE91-379AF8CFC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366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9033834-7EEA-72E7-4BD3-DE6C4560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>
            <a:extLst>
              <a:ext uri="{FF2B5EF4-FFF2-40B4-BE49-F238E27FC236}">
                <a16:creationId xmlns:a16="http://schemas.microsoft.com/office/drawing/2014/main" id="{2528C9C3-7192-5D68-2542-D4F221081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>
            <a:extLst>
              <a:ext uri="{FF2B5EF4-FFF2-40B4-BE49-F238E27FC236}">
                <a16:creationId xmlns:a16="http://schemas.microsoft.com/office/drawing/2014/main" id="{71AB7AAD-A5F6-D043-0A21-7C19CDB2A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87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97" r:id="rId11"/>
    <p:sldLayoutId id="2147483698" r:id="rId12"/>
    <p:sldLayoutId id="2147483699" r:id="rId13"/>
    <p:sldLayoutId id="214748370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50" y="1433265"/>
            <a:ext cx="7064100" cy="16902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5400" dirty="0" err="1"/>
              <a:t>Комплексний</a:t>
            </a:r>
            <a:r>
              <a:rPr lang="ru-RU" sz="5400" dirty="0"/>
              <a:t> </a:t>
            </a:r>
            <a:r>
              <a:rPr lang="ru-RU" sz="5400" dirty="0" err="1"/>
              <a:t>курсовий</a:t>
            </a:r>
            <a:r>
              <a:rPr lang="ru-RU" sz="5400" dirty="0"/>
              <a:t> </a:t>
            </a:r>
            <a:r>
              <a:rPr lang="ru-RU" sz="5400" dirty="0" err="1"/>
              <a:t>проєкт</a:t>
            </a:r>
            <a:endParaRPr sz="54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96159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dirty="0" err="1"/>
              <a:t>Харківський</a:t>
            </a:r>
            <a:r>
              <a:rPr lang="ru-RU" dirty="0"/>
              <a:t> </a:t>
            </a:r>
            <a:r>
              <a:rPr lang="ru-RU" dirty="0" err="1"/>
              <a:t>національний</a:t>
            </a:r>
            <a:r>
              <a:rPr lang="ru-RU" dirty="0"/>
              <a:t> </a:t>
            </a:r>
            <a:r>
              <a:rPr lang="ru-RU" dirty="0" err="1"/>
              <a:t>університет</a:t>
            </a:r>
            <a:r>
              <a:rPr lang="ru-RU" dirty="0"/>
              <a:t> </a:t>
            </a:r>
            <a:r>
              <a:rPr lang="ru-RU" dirty="0" err="1"/>
              <a:t>радіоелектроніки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F361F9-324D-C767-8EB6-4BF5FCDE9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372371"/>
            <a:ext cx="2475434" cy="44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89;p60">
            <a:extLst>
              <a:ext uri="{FF2B5EF4-FFF2-40B4-BE49-F238E27FC236}">
                <a16:creationId xmlns:a16="http://schemas.microsoft.com/office/drawing/2014/main" id="{016741BF-8F17-BAC3-2853-ACD6126D8A36}"/>
              </a:ext>
            </a:extLst>
          </p:cNvPr>
          <p:cNvSpPr txBox="1">
            <a:spLocks/>
          </p:cNvSpPr>
          <p:nvPr/>
        </p:nvSpPr>
        <p:spPr>
          <a:xfrm>
            <a:off x="1039950" y="2932350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ru-RU" dirty="0"/>
              <a:t>Веб-система </a:t>
            </a:r>
            <a:r>
              <a:rPr lang="ru-RU" dirty="0" err="1"/>
              <a:t>бронювання</a:t>
            </a:r>
            <a:r>
              <a:rPr lang="ru-RU" dirty="0"/>
              <a:t> </a:t>
            </a:r>
            <a:r>
              <a:rPr lang="ru-RU" dirty="0" err="1"/>
              <a:t>кімнат</a:t>
            </a:r>
            <a:r>
              <a:rPr lang="ru-RU" dirty="0"/>
              <a:t> у </a:t>
            </a:r>
            <a:r>
              <a:rPr lang="ru-RU" dirty="0" err="1"/>
              <a:t>коворкінгу</a:t>
            </a:r>
            <a:r>
              <a:rPr lang="ru-RU" dirty="0"/>
              <a:t> </a:t>
            </a:r>
            <a:r>
              <a:rPr lang="ru-RU" dirty="0" err="1"/>
              <a:t>RaumReserv</a:t>
            </a:r>
            <a:endParaRPr lang="ru-RU" dirty="0"/>
          </a:p>
        </p:txBody>
      </p:sp>
      <p:sp>
        <p:nvSpPr>
          <p:cNvPr id="3" name="Google Shape;489;p60">
            <a:extLst>
              <a:ext uri="{FF2B5EF4-FFF2-40B4-BE49-F238E27FC236}">
                <a16:creationId xmlns:a16="http://schemas.microsoft.com/office/drawing/2014/main" id="{168C673A-98FD-3698-302F-9D864E84EF45}"/>
              </a:ext>
            </a:extLst>
          </p:cNvPr>
          <p:cNvSpPr txBox="1">
            <a:spLocks/>
          </p:cNvSpPr>
          <p:nvPr/>
        </p:nvSpPr>
        <p:spPr>
          <a:xfrm>
            <a:off x="406777" y="3528000"/>
            <a:ext cx="3052703" cy="130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</a:pPr>
            <a:r>
              <a:rPr lang="ru-RU" dirty="0" err="1"/>
              <a:t>Виконав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ст. гр. [ПЗПІ-23-9]</a:t>
            </a:r>
            <a:br>
              <a:rPr lang="ru-RU" dirty="0"/>
            </a:br>
            <a:r>
              <a:rPr lang="ru-RU" dirty="0"/>
              <a:t>Зінченко Г. </a:t>
            </a:r>
            <a:r>
              <a:rPr lang="uk-UA" dirty="0"/>
              <a:t>Є</a:t>
            </a:r>
            <a:r>
              <a:rPr lang="ru-RU" dirty="0"/>
              <a:t>.</a:t>
            </a:r>
          </a:p>
        </p:txBody>
      </p:sp>
      <p:sp>
        <p:nvSpPr>
          <p:cNvPr id="6" name="Google Shape;489;p60">
            <a:extLst>
              <a:ext uri="{FF2B5EF4-FFF2-40B4-BE49-F238E27FC236}">
                <a16:creationId xmlns:a16="http://schemas.microsoft.com/office/drawing/2014/main" id="{2C260684-F315-BF63-22DD-0A4B0EA03540}"/>
              </a:ext>
            </a:extLst>
          </p:cNvPr>
          <p:cNvSpPr txBox="1">
            <a:spLocks/>
          </p:cNvSpPr>
          <p:nvPr/>
        </p:nvSpPr>
        <p:spPr>
          <a:xfrm>
            <a:off x="3628258" y="3580695"/>
            <a:ext cx="4280949" cy="130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</a:pPr>
            <a:r>
              <a:rPr lang="ru-RU" dirty="0" err="1"/>
              <a:t>Керівник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доц. </a:t>
            </a:r>
            <a:r>
              <a:rPr lang="ru-RU" dirty="0" err="1"/>
              <a:t>кафедри</a:t>
            </a:r>
            <a:r>
              <a:rPr lang="ru-RU" dirty="0"/>
              <a:t> ПІ</a:t>
            </a:r>
            <a:br>
              <a:rPr lang="ru-RU" dirty="0"/>
            </a:br>
            <a:r>
              <a:rPr lang="ru-RU" dirty="0" err="1"/>
              <a:t>Віктор</a:t>
            </a:r>
            <a:r>
              <a:rPr lang="ru-RU" dirty="0"/>
              <a:t> КАУК.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1600" dirty="0" err="1"/>
              <a:t>Аналіз</a:t>
            </a:r>
            <a:r>
              <a:rPr lang="ru-RU" sz="1600" dirty="0"/>
              <a:t> </a:t>
            </a:r>
            <a:r>
              <a:rPr lang="ru-RU" sz="1600" dirty="0" err="1"/>
              <a:t>процесу</a:t>
            </a:r>
            <a:r>
              <a:rPr lang="ru-RU" sz="1600" dirty="0"/>
              <a:t> </a:t>
            </a:r>
            <a:r>
              <a:rPr lang="ru-RU" sz="1600" dirty="0" err="1"/>
              <a:t>бронювання</a:t>
            </a:r>
            <a:endParaRPr sz="1600" dirty="0"/>
          </a:p>
        </p:txBody>
      </p:sp>
      <p:sp>
        <p:nvSpPr>
          <p:cNvPr id="518" name="Google Shape;518;p63"/>
          <p:cNvSpPr txBox="1">
            <a:spLocks noGrp="1"/>
          </p:cNvSpPr>
          <p:nvPr>
            <p:ph type="subTitle" idx="1"/>
          </p:nvPr>
        </p:nvSpPr>
        <p:spPr>
          <a:xfrm>
            <a:off x="720000" y="226302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100" dirty="0" err="1"/>
              <a:t>Аналіз</a:t>
            </a:r>
            <a:r>
              <a:rPr lang="ru-RU" sz="1100" dirty="0"/>
              <a:t> </a:t>
            </a:r>
            <a:r>
              <a:rPr lang="ru-RU" sz="1100" dirty="0" err="1"/>
              <a:t>процесу</a:t>
            </a:r>
            <a:r>
              <a:rPr lang="ru-RU" sz="1100" dirty="0"/>
              <a:t> </a:t>
            </a:r>
            <a:r>
              <a:rPr lang="ru-RU" sz="1100" dirty="0" err="1"/>
              <a:t>бронювання</a:t>
            </a:r>
            <a:r>
              <a:rPr lang="ru-RU" sz="1100" dirty="0"/>
              <a:t> </a:t>
            </a:r>
            <a:r>
              <a:rPr lang="ru-RU" sz="1100" dirty="0" err="1"/>
              <a:t>кімнат</a:t>
            </a:r>
            <a:r>
              <a:rPr lang="ru-RU" sz="1100" dirty="0"/>
              <a:t> у </a:t>
            </a:r>
            <a:r>
              <a:rPr lang="ru-RU" sz="1100" dirty="0" err="1"/>
              <a:t>коворкінгу</a:t>
            </a:r>
            <a:endParaRPr sz="1100" dirty="0"/>
          </a:p>
        </p:txBody>
      </p:sp>
      <p:sp>
        <p:nvSpPr>
          <p:cNvPr id="519" name="Google Shape;519;p63"/>
          <p:cNvSpPr txBox="1">
            <a:spLocks noGrp="1"/>
          </p:cNvSpPr>
          <p:nvPr>
            <p:ph type="subTitle" idx="8"/>
          </p:nvPr>
        </p:nvSpPr>
        <p:spPr>
          <a:xfrm>
            <a:off x="6087600" y="2188152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sz="1100" dirty="0" err="1"/>
              <a:t>Проєктування</a:t>
            </a:r>
            <a:r>
              <a:rPr lang="ru-RU" sz="1100" dirty="0"/>
              <a:t> веб-</a:t>
            </a:r>
            <a:r>
              <a:rPr lang="ru-RU" sz="1100" dirty="0" err="1"/>
              <a:t>системи</a:t>
            </a:r>
            <a:r>
              <a:rPr lang="ru-RU" sz="1100" dirty="0"/>
              <a:t> </a:t>
            </a:r>
            <a:r>
              <a:rPr lang="en-US" sz="1100" dirty="0" err="1"/>
              <a:t>RaumReserv</a:t>
            </a:r>
            <a:endParaRPr sz="1100" dirty="0"/>
          </a:p>
        </p:txBody>
      </p:sp>
      <p:sp>
        <p:nvSpPr>
          <p:cNvPr id="520" name="Google Shape;520;p63"/>
          <p:cNvSpPr txBox="1">
            <a:spLocks noGrp="1"/>
          </p:cNvSpPr>
          <p:nvPr>
            <p:ph type="title" idx="4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title" idx="13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22" name="Google Shape;522;p63"/>
          <p:cNvSpPr txBox="1">
            <a:spLocks noGrp="1"/>
          </p:cNvSpPr>
          <p:nvPr>
            <p:ph type="title" idx="2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23" name="Google Shape;523;p63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1600" dirty="0" err="1"/>
              <a:t>Виявлення</a:t>
            </a:r>
            <a:r>
              <a:rPr lang="ru-RU" sz="1600" dirty="0"/>
              <a:t> проблем</a:t>
            </a:r>
            <a:endParaRPr sz="1600" dirty="0"/>
          </a:p>
        </p:txBody>
      </p:sp>
      <p:sp>
        <p:nvSpPr>
          <p:cNvPr id="524" name="Google Shape;524;p63"/>
          <p:cNvSpPr txBox="1">
            <a:spLocks noGrp="1"/>
          </p:cNvSpPr>
          <p:nvPr>
            <p:ph type="subTitle" idx="5"/>
          </p:nvPr>
        </p:nvSpPr>
        <p:spPr>
          <a:xfrm>
            <a:off x="3403800" y="216223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sz="1100" dirty="0" err="1"/>
              <a:t>Виявлення</a:t>
            </a:r>
            <a:r>
              <a:rPr lang="ru-RU" sz="1100" dirty="0"/>
              <a:t> </a:t>
            </a:r>
            <a:r>
              <a:rPr lang="ru-RU" sz="1100" dirty="0" err="1"/>
              <a:t>основних</a:t>
            </a:r>
            <a:r>
              <a:rPr lang="ru-RU" sz="1100" dirty="0"/>
              <a:t> проблем ручного </a:t>
            </a:r>
            <a:r>
              <a:rPr lang="ru-RU" sz="1100" dirty="0" err="1"/>
              <a:t>бронювання</a:t>
            </a:r>
            <a:endParaRPr sz="1100" dirty="0"/>
          </a:p>
        </p:txBody>
      </p:sp>
      <p:sp>
        <p:nvSpPr>
          <p:cNvPr id="525" name="Google Shape;525;p63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1600" dirty="0" err="1"/>
              <a:t>Проєктування</a:t>
            </a:r>
            <a:r>
              <a:rPr lang="ru-RU" sz="1600" dirty="0"/>
              <a:t> </a:t>
            </a:r>
            <a:r>
              <a:rPr lang="ru-RU" sz="1600" dirty="0" err="1"/>
              <a:t>системи</a:t>
            </a:r>
            <a:endParaRPr sz="1600" dirty="0"/>
          </a:p>
        </p:txBody>
      </p:sp>
      <p:sp>
        <p:nvSpPr>
          <p:cNvPr id="526" name="Google Shape;526;p63"/>
          <p:cNvSpPr txBox="1">
            <a:spLocks noGrp="1"/>
          </p:cNvSpPr>
          <p:nvPr>
            <p:ph type="title" idx="7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7" name="Google Shape;527;p63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1600" dirty="0" err="1"/>
              <a:t>Реалізація</a:t>
            </a:r>
            <a:r>
              <a:rPr lang="ru-RU" sz="1600" dirty="0"/>
              <a:t> </a:t>
            </a:r>
            <a:r>
              <a:rPr lang="en-US" sz="1600" dirty="0"/>
              <a:t>backend</a:t>
            </a:r>
            <a:endParaRPr sz="1600" dirty="0"/>
          </a:p>
        </p:txBody>
      </p:sp>
      <p:sp>
        <p:nvSpPr>
          <p:cNvPr id="528" name="Google Shape;528;p63"/>
          <p:cNvSpPr txBox="1">
            <a:spLocks noGrp="1"/>
          </p:cNvSpPr>
          <p:nvPr>
            <p:ph type="subTitle" idx="14"/>
          </p:nvPr>
        </p:nvSpPr>
        <p:spPr>
          <a:xfrm>
            <a:off x="720000" y="398780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sz="1100" dirty="0" err="1"/>
              <a:t>Реалізація</a:t>
            </a:r>
            <a:r>
              <a:rPr lang="ru-RU" sz="1100" dirty="0"/>
              <a:t> </a:t>
            </a:r>
            <a:r>
              <a:rPr lang="ru-RU" sz="1100" dirty="0" err="1"/>
              <a:t>backend-частини</a:t>
            </a:r>
            <a:r>
              <a:rPr lang="ru-RU" sz="1100" dirty="0"/>
              <a:t> та </a:t>
            </a:r>
            <a:r>
              <a:rPr lang="ru-RU" sz="1100" dirty="0" err="1"/>
              <a:t>бази</a:t>
            </a:r>
            <a:r>
              <a:rPr lang="ru-RU" sz="1100" dirty="0"/>
              <a:t> </a:t>
            </a:r>
            <a:r>
              <a:rPr lang="ru-RU" sz="1100" dirty="0" err="1"/>
              <a:t>даних</a:t>
            </a:r>
            <a:endParaRPr sz="1100" dirty="0"/>
          </a:p>
        </p:txBody>
      </p:sp>
      <p:sp>
        <p:nvSpPr>
          <p:cNvPr id="529" name="Google Shape;529;p63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1600" dirty="0" err="1"/>
              <a:t>Реалізація</a:t>
            </a:r>
            <a:r>
              <a:rPr lang="ru-RU" sz="1600" dirty="0"/>
              <a:t> </a:t>
            </a:r>
            <a:r>
              <a:rPr lang="en-US" sz="1600" dirty="0"/>
              <a:t>frontend</a:t>
            </a:r>
            <a:endParaRPr sz="1600" dirty="0"/>
          </a:p>
        </p:txBody>
      </p:sp>
      <p:sp>
        <p:nvSpPr>
          <p:cNvPr id="530" name="Google Shape;530;p63"/>
          <p:cNvSpPr txBox="1">
            <a:spLocks noGrp="1"/>
          </p:cNvSpPr>
          <p:nvPr>
            <p:ph type="title" idx="16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31" name="Google Shape;531;p63"/>
          <p:cNvSpPr txBox="1">
            <a:spLocks noGrp="1"/>
          </p:cNvSpPr>
          <p:nvPr>
            <p:ph type="subTitle" idx="17"/>
          </p:nvPr>
        </p:nvSpPr>
        <p:spPr>
          <a:xfrm>
            <a:off x="3403800" y="38963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sz="1100" dirty="0" err="1"/>
              <a:t>Розробка</a:t>
            </a:r>
            <a:r>
              <a:rPr lang="ru-RU" sz="1100" dirty="0"/>
              <a:t> </a:t>
            </a:r>
            <a:r>
              <a:rPr lang="ru-RU" sz="1100" dirty="0" err="1"/>
              <a:t>користувацького</a:t>
            </a:r>
            <a:r>
              <a:rPr lang="ru-RU" sz="1100" dirty="0"/>
              <a:t> та </a:t>
            </a:r>
            <a:r>
              <a:rPr lang="ru-RU" sz="1100" dirty="0" err="1"/>
              <a:t>адміністративного</a:t>
            </a:r>
            <a:r>
              <a:rPr lang="ru-RU" sz="1100" dirty="0"/>
              <a:t> </a:t>
            </a:r>
            <a:r>
              <a:rPr lang="ru-RU" sz="1100" dirty="0" err="1"/>
              <a:t>інтерфейсів</a:t>
            </a:r>
            <a:endParaRPr sz="1100" dirty="0"/>
          </a:p>
        </p:txBody>
      </p:sp>
      <p:sp>
        <p:nvSpPr>
          <p:cNvPr id="532" name="Google Shape;532;p63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1600" dirty="0" err="1"/>
              <a:t>Тестування</a:t>
            </a:r>
            <a:r>
              <a:rPr lang="ru-RU" sz="1600" dirty="0"/>
              <a:t> та </a:t>
            </a:r>
            <a:r>
              <a:rPr lang="ru-RU" sz="1600" dirty="0" err="1"/>
              <a:t>оцінка</a:t>
            </a:r>
            <a:r>
              <a:rPr lang="ru-RU" sz="1600" dirty="0"/>
              <a:t> </a:t>
            </a:r>
            <a:r>
              <a:rPr lang="ru-RU" sz="1600" dirty="0" err="1"/>
              <a:t>результатів</a:t>
            </a:r>
            <a:endParaRPr sz="1600" dirty="0"/>
          </a:p>
        </p:txBody>
      </p:sp>
      <p:sp>
        <p:nvSpPr>
          <p:cNvPr id="533" name="Google Shape;533;p63"/>
          <p:cNvSpPr txBox="1">
            <a:spLocks noGrp="1"/>
          </p:cNvSpPr>
          <p:nvPr>
            <p:ph type="title" idx="19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34" name="Google Shape;534;p63"/>
          <p:cNvSpPr txBox="1">
            <a:spLocks noGrp="1"/>
          </p:cNvSpPr>
          <p:nvPr>
            <p:ph type="subTitle" idx="20"/>
          </p:nvPr>
        </p:nvSpPr>
        <p:spPr>
          <a:xfrm>
            <a:off x="6087600" y="38963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ru-RU" sz="1100" dirty="0" err="1"/>
              <a:t>Тестування</a:t>
            </a:r>
            <a:r>
              <a:rPr lang="ru-RU" sz="1100" dirty="0"/>
              <a:t> </a:t>
            </a:r>
            <a:r>
              <a:rPr lang="ru-RU" sz="1100" dirty="0" err="1"/>
              <a:t>системи</a:t>
            </a:r>
            <a:r>
              <a:rPr lang="ru-RU" sz="1100" dirty="0"/>
              <a:t> та </a:t>
            </a:r>
            <a:r>
              <a:rPr lang="ru-RU" sz="1100" dirty="0" err="1"/>
              <a:t>аналіз</a:t>
            </a:r>
            <a:r>
              <a:rPr lang="ru-RU" sz="1100" dirty="0"/>
              <a:t> </a:t>
            </a:r>
            <a:r>
              <a:rPr lang="ru-RU" sz="1100" dirty="0" err="1"/>
              <a:t>отриманих</a:t>
            </a:r>
            <a:r>
              <a:rPr lang="ru-RU" sz="1100" dirty="0"/>
              <a:t> </a:t>
            </a:r>
            <a:r>
              <a:rPr lang="ru-RU" sz="1100" dirty="0" err="1"/>
              <a:t>результатів</a:t>
            </a:r>
            <a:endParaRPr sz="1100"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Мета </a:t>
            </a:r>
            <a:r>
              <a:rPr lang="ru-RU" dirty="0" err="1"/>
              <a:t>роботи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2945885" y="34596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149370" y="918664"/>
            <a:ext cx="3439650" cy="7043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100"/>
              <a:buNone/>
            </a:pPr>
            <a:r>
              <a:rPr lang="ru-RU" sz="1800" dirty="0" err="1"/>
              <a:t>Недоліки</a:t>
            </a:r>
            <a:r>
              <a:rPr lang="ru-RU" sz="1800" dirty="0"/>
              <a:t> </a:t>
            </a:r>
            <a:r>
              <a:rPr lang="ru-RU" sz="1800" dirty="0" err="1"/>
              <a:t>існуючих</a:t>
            </a:r>
            <a:r>
              <a:rPr lang="ru-RU" sz="1800" dirty="0"/>
              <a:t> систем </a:t>
            </a:r>
            <a:r>
              <a:rPr lang="ru-RU" sz="1800" dirty="0" err="1"/>
              <a:t>бронювання</a:t>
            </a:r>
            <a:endParaRPr sz="1800" dirty="0"/>
          </a:p>
        </p:txBody>
      </p:sp>
      <p:sp>
        <p:nvSpPr>
          <p:cNvPr id="4" name="Google Shape;495;p61">
            <a:extLst>
              <a:ext uri="{FF2B5EF4-FFF2-40B4-BE49-F238E27FC236}">
                <a16:creationId xmlns:a16="http://schemas.microsoft.com/office/drawing/2014/main" id="{FD90D8CD-F86F-4505-0F6B-BD5CD1FBDBC1}"/>
              </a:ext>
            </a:extLst>
          </p:cNvPr>
          <p:cNvSpPr txBox="1">
            <a:spLocks/>
          </p:cNvSpPr>
          <p:nvPr/>
        </p:nvSpPr>
        <p:spPr>
          <a:xfrm>
            <a:off x="332250" y="1623058"/>
            <a:ext cx="3073890" cy="246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Ручне</a:t>
            </a:r>
            <a:r>
              <a:rPr lang="ru-RU" sz="1400" dirty="0"/>
              <a:t> </a:t>
            </a:r>
            <a:r>
              <a:rPr lang="ru-RU" sz="1400" dirty="0" err="1"/>
              <a:t>опрацювання</a:t>
            </a:r>
            <a:r>
              <a:rPr lang="ru-RU" sz="1400" dirty="0"/>
              <a:t> заявок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Можливість</a:t>
            </a:r>
            <a:r>
              <a:rPr lang="ru-RU" sz="1400" dirty="0"/>
              <a:t> </a:t>
            </a:r>
            <a:r>
              <a:rPr lang="ru-RU" sz="1400" dirty="0" err="1"/>
              <a:t>дублювання</a:t>
            </a:r>
            <a:r>
              <a:rPr lang="ru-RU" sz="1400" dirty="0"/>
              <a:t> </a:t>
            </a:r>
            <a:r>
              <a:rPr lang="ru-RU" sz="1400" dirty="0" err="1"/>
              <a:t>бронювань</a:t>
            </a:r>
            <a:r>
              <a:rPr lang="ru-RU" sz="1400" dirty="0"/>
              <a:t>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Відсутність</a:t>
            </a:r>
            <a:r>
              <a:rPr lang="ru-RU" sz="1400" dirty="0"/>
              <a:t> </a:t>
            </a:r>
            <a:r>
              <a:rPr lang="ru-RU" sz="1400" dirty="0" err="1"/>
              <a:t>централізованого</a:t>
            </a:r>
            <a:r>
              <a:rPr lang="ru-RU" sz="1400" dirty="0"/>
              <a:t> </a:t>
            </a:r>
            <a:r>
              <a:rPr lang="ru-RU" sz="1400" dirty="0" err="1"/>
              <a:t>обліку</a:t>
            </a:r>
            <a:r>
              <a:rPr lang="ru-RU" sz="1400" dirty="0"/>
              <a:t>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Незручний</a:t>
            </a:r>
            <a:r>
              <a:rPr lang="ru-RU" sz="1400" dirty="0"/>
              <a:t> </a:t>
            </a:r>
            <a:r>
              <a:rPr lang="ru-RU" sz="1400" dirty="0" err="1"/>
              <a:t>пошук</a:t>
            </a:r>
            <a:r>
              <a:rPr lang="ru-RU" sz="1400" dirty="0"/>
              <a:t> </a:t>
            </a:r>
            <a:r>
              <a:rPr lang="ru-RU" sz="1400" dirty="0" err="1"/>
              <a:t>вільних</a:t>
            </a:r>
            <a:r>
              <a:rPr lang="ru-RU" sz="1400" dirty="0"/>
              <a:t> </a:t>
            </a:r>
            <a:r>
              <a:rPr lang="ru-RU" sz="1400" dirty="0" err="1"/>
              <a:t>кімнат</a:t>
            </a:r>
            <a:endParaRPr lang="ru-RU" sz="1400" dirty="0"/>
          </a:p>
        </p:txBody>
      </p:sp>
      <p:sp>
        <p:nvSpPr>
          <p:cNvPr id="6" name="Google Shape;495;p61">
            <a:extLst>
              <a:ext uri="{FF2B5EF4-FFF2-40B4-BE49-F238E27FC236}">
                <a16:creationId xmlns:a16="http://schemas.microsoft.com/office/drawing/2014/main" id="{E19CD052-9D19-CC35-2C42-F1DD4CA61488}"/>
              </a:ext>
            </a:extLst>
          </p:cNvPr>
          <p:cNvSpPr txBox="1">
            <a:spLocks/>
          </p:cNvSpPr>
          <p:nvPr/>
        </p:nvSpPr>
        <p:spPr>
          <a:xfrm>
            <a:off x="5737860" y="938168"/>
            <a:ext cx="3439650" cy="70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SzPts val="1100"/>
              <a:buNone/>
            </a:pPr>
            <a:r>
              <a:rPr lang="ru-RU" sz="1800" dirty="0" err="1"/>
              <a:t>Наслідки</a:t>
            </a:r>
            <a:endParaRPr lang="ru-RU" sz="1800" dirty="0"/>
          </a:p>
        </p:txBody>
      </p:sp>
      <p:sp>
        <p:nvSpPr>
          <p:cNvPr id="7" name="Google Shape;495;p61">
            <a:extLst>
              <a:ext uri="{FF2B5EF4-FFF2-40B4-BE49-F238E27FC236}">
                <a16:creationId xmlns:a16="http://schemas.microsoft.com/office/drawing/2014/main" id="{29C35FF1-2E4B-B347-0831-FAE5FD9AB746}"/>
              </a:ext>
            </a:extLst>
          </p:cNvPr>
          <p:cNvSpPr txBox="1">
            <a:spLocks/>
          </p:cNvSpPr>
          <p:nvPr/>
        </p:nvSpPr>
        <p:spPr>
          <a:xfrm>
            <a:off x="6103620" y="1623058"/>
            <a:ext cx="3073890" cy="27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Конфлікти</a:t>
            </a:r>
            <a:r>
              <a:rPr lang="ru-RU" sz="1400" dirty="0"/>
              <a:t> </a:t>
            </a:r>
            <a:r>
              <a:rPr lang="ru-RU" sz="1400" dirty="0" err="1"/>
              <a:t>між</a:t>
            </a:r>
            <a:r>
              <a:rPr lang="ru-RU" sz="1400" dirty="0"/>
              <a:t> </a:t>
            </a:r>
            <a:r>
              <a:rPr lang="ru-RU" sz="1400" dirty="0" err="1"/>
              <a:t>користувачами</a:t>
            </a:r>
            <a:r>
              <a:rPr lang="ru-RU" sz="1400" dirty="0"/>
              <a:t>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Втрата</a:t>
            </a:r>
            <a:r>
              <a:rPr lang="ru-RU" sz="1400" dirty="0"/>
              <a:t> часу на </a:t>
            </a:r>
            <a:r>
              <a:rPr lang="ru-RU" sz="1400" dirty="0" err="1"/>
              <a:t>перевірку</a:t>
            </a:r>
            <a:r>
              <a:rPr lang="ru-RU" sz="1400" dirty="0"/>
              <a:t> заявок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Підвищене</a:t>
            </a:r>
            <a:r>
              <a:rPr lang="ru-RU" sz="1400" dirty="0"/>
              <a:t> </a:t>
            </a:r>
            <a:r>
              <a:rPr lang="ru-RU" sz="1400" dirty="0" err="1"/>
              <a:t>навантаження</a:t>
            </a:r>
            <a:r>
              <a:rPr lang="ru-RU" sz="1400" dirty="0"/>
              <a:t> на </a:t>
            </a:r>
            <a:r>
              <a:rPr lang="ru-RU" sz="1400" dirty="0" err="1"/>
              <a:t>адміністратора</a:t>
            </a:r>
            <a:r>
              <a:rPr lang="ru-RU" sz="1400" dirty="0"/>
              <a:t> </a:t>
            </a:r>
          </a:p>
          <a:p>
            <a:pPr marL="285750" indent="-285750">
              <a:lnSpc>
                <a:spcPct val="150000"/>
              </a:lnSpc>
              <a:buSzPts val="1100"/>
              <a:buFont typeface="Arial" panose="020B0604020202020204" pitchFamily="34" charset="0"/>
              <a:buChar char="•"/>
            </a:pPr>
            <a:r>
              <a:rPr lang="ru-RU" sz="1400" dirty="0" err="1"/>
              <a:t>Ризик</a:t>
            </a:r>
            <a:r>
              <a:rPr lang="ru-RU" sz="1400" dirty="0"/>
              <a:t> </a:t>
            </a:r>
            <a:r>
              <a:rPr lang="ru-RU" sz="1400" dirty="0" err="1"/>
              <a:t>помилок</a:t>
            </a:r>
            <a:r>
              <a:rPr lang="ru-RU" sz="1400" dirty="0"/>
              <a:t> </a:t>
            </a:r>
            <a:r>
              <a:rPr lang="ru-RU" sz="1400" dirty="0" err="1"/>
              <a:t>під</a:t>
            </a:r>
            <a:r>
              <a:rPr lang="ru-RU" sz="1400" dirty="0"/>
              <a:t> час </a:t>
            </a:r>
            <a:r>
              <a:rPr lang="ru-RU" sz="1400" dirty="0" err="1"/>
              <a:t>бронювання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164D4D-7B1E-D703-AEA8-50E10308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074420"/>
            <a:ext cx="1940329" cy="31387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D86CA9-95D5-8286-D61D-31273E4C363D}"/>
              </a:ext>
            </a:extLst>
          </p:cNvPr>
          <p:cNvSpPr txBox="1"/>
          <p:nvPr/>
        </p:nvSpPr>
        <p:spPr>
          <a:xfrm>
            <a:off x="2756535" y="4258728"/>
            <a:ext cx="39643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dirty="0"/>
              <a:t>Рисунок 1 – Приклад </a:t>
            </a:r>
            <a:r>
              <a:rPr lang="ru-RU" sz="1100" dirty="0" err="1"/>
              <a:t>інтерфейсу</a:t>
            </a:r>
            <a:r>
              <a:rPr lang="ru-RU" sz="1100" dirty="0"/>
              <a:t> </a:t>
            </a:r>
            <a:r>
              <a:rPr lang="ru-RU" sz="1100" dirty="0" err="1"/>
              <a:t>бронювання</a:t>
            </a:r>
            <a:r>
              <a:rPr lang="ru-RU" sz="1100" dirty="0"/>
              <a:t> </a:t>
            </a:r>
            <a:r>
              <a:rPr lang="ru-RU" sz="1100" dirty="0" err="1"/>
              <a:t>кімнати</a:t>
            </a:r>
            <a:r>
              <a:rPr lang="ru-RU" sz="1100" dirty="0"/>
              <a:t> в </a:t>
            </a:r>
            <a:r>
              <a:rPr lang="ru-RU" sz="1100" dirty="0" err="1"/>
              <a:t>сервісі</a:t>
            </a:r>
            <a:r>
              <a:rPr lang="ru-RU" sz="1100" dirty="0"/>
              <a:t> </a:t>
            </a:r>
            <a:r>
              <a:rPr lang="en-US" sz="1100" dirty="0" err="1"/>
              <a:t>Spacesworks</a:t>
            </a:r>
            <a:endParaRPr lang="LID4096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80050" y="3317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аналогів</a:t>
            </a: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9C92806-2B6E-17A5-4AF1-D91623B72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34321"/>
              </p:ext>
            </p:extLst>
          </p:nvPr>
        </p:nvGraphicFramePr>
        <p:xfrm>
          <a:off x="712787" y="1038225"/>
          <a:ext cx="7718425" cy="3413760"/>
        </p:xfrm>
        <a:graphic>
          <a:graphicData uri="http://schemas.openxmlformats.org/drawingml/2006/table">
            <a:tbl>
              <a:tblPr>
                <a:tableStyleId>{3FC5437D-9D59-4E6D-8C16-D147194F9B7F}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3514991405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3727426425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805095389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3037663416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41009362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Критерій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91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Перегляд </a:t>
                      </a:r>
                      <a:r>
                        <a:rPr lang="ru-RU" dirty="0" err="1"/>
                        <a:t>кімнат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7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Фільтрація приміщень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Частково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16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Створення бронювання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Частково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31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Перевірка конфліктів часу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28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Керування користувачами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485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Розмежування ролей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Частково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5991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F65733-6601-0A3D-9792-5358CDF2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508" y="1112491"/>
            <a:ext cx="752833" cy="37641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D10C2-2357-9FFA-CE1E-46ABA7549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51" y="1156320"/>
            <a:ext cx="1020664" cy="3083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3A8ACC-917F-4E4D-AF66-839AA1166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430" y="1227651"/>
            <a:ext cx="1076571" cy="18455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CC9B731-07FA-A7FC-22DF-1CC77F5C8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317" y="1148750"/>
            <a:ext cx="1240865" cy="2830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1783DA-8611-CA11-A579-A9346D3C91E0}"/>
              </a:ext>
            </a:extLst>
          </p:cNvPr>
          <p:cNvSpPr txBox="1"/>
          <p:nvPr/>
        </p:nvSpPr>
        <p:spPr>
          <a:xfrm>
            <a:off x="1" y="4491480"/>
            <a:ext cx="9143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/>
              <a:t>RaumReserv</a:t>
            </a:r>
            <a:r>
              <a:rPr lang="en-US" sz="800" dirty="0"/>
              <a:t> </a:t>
            </a:r>
            <a:r>
              <a:rPr lang="ru-RU" sz="800" dirty="0" err="1"/>
              <a:t>поєднує</a:t>
            </a:r>
            <a:r>
              <a:rPr lang="ru-RU" sz="800" dirty="0"/>
              <a:t> </a:t>
            </a:r>
            <a:r>
              <a:rPr lang="ru-RU" sz="800" dirty="0" err="1"/>
              <a:t>можливості</a:t>
            </a:r>
            <a:r>
              <a:rPr lang="ru-RU" sz="800" dirty="0"/>
              <a:t> </a:t>
            </a:r>
            <a:r>
              <a:rPr lang="ru-RU" sz="800" dirty="0" err="1"/>
              <a:t>сучасних</a:t>
            </a:r>
            <a:r>
              <a:rPr lang="ru-RU" sz="800" dirty="0"/>
              <a:t> </a:t>
            </a:r>
            <a:r>
              <a:rPr lang="ru-RU" sz="800" dirty="0" err="1"/>
              <a:t>сервісів</a:t>
            </a:r>
            <a:r>
              <a:rPr lang="ru-RU" sz="800" dirty="0"/>
              <a:t> </a:t>
            </a:r>
            <a:r>
              <a:rPr lang="ru-RU" sz="800" dirty="0" err="1"/>
              <a:t>бронювання</a:t>
            </a:r>
            <a:r>
              <a:rPr lang="ru-RU" sz="800" dirty="0"/>
              <a:t> та </a:t>
            </a:r>
            <a:r>
              <a:rPr lang="ru-RU" sz="800" dirty="0" err="1"/>
              <a:t>додатково</a:t>
            </a:r>
            <a:r>
              <a:rPr lang="ru-RU" sz="800" dirty="0"/>
              <a:t> </a:t>
            </a:r>
            <a:r>
              <a:rPr lang="ru-RU" sz="800" dirty="0" err="1"/>
              <a:t>забезпечує</a:t>
            </a:r>
            <a:r>
              <a:rPr lang="ru-RU" sz="800" dirty="0"/>
              <a:t> </a:t>
            </a:r>
            <a:r>
              <a:rPr lang="ru-RU" sz="800" dirty="0" err="1"/>
              <a:t>керування</a:t>
            </a:r>
            <a:r>
              <a:rPr lang="ru-RU" sz="800" dirty="0"/>
              <a:t> </a:t>
            </a:r>
            <a:r>
              <a:rPr lang="ru-RU" sz="800" dirty="0" err="1"/>
              <a:t>користувачами</a:t>
            </a:r>
            <a:r>
              <a:rPr lang="ru-RU" sz="800" dirty="0"/>
              <a:t>, контроль </a:t>
            </a:r>
            <a:r>
              <a:rPr lang="ru-RU" sz="800" dirty="0" err="1"/>
              <a:t>конфліктів</a:t>
            </a:r>
            <a:r>
              <a:rPr lang="ru-RU" sz="800" dirty="0"/>
              <a:t> </a:t>
            </a:r>
            <a:r>
              <a:rPr lang="ru-RU" sz="800" dirty="0" err="1"/>
              <a:t>бронювань</a:t>
            </a:r>
            <a:r>
              <a:rPr lang="ru-RU" sz="800" dirty="0"/>
              <a:t> і </a:t>
            </a:r>
            <a:r>
              <a:rPr lang="ru-RU" sz="800" dirty="0" err="1"/>
              <a:t>розмежування</a:t>
            </a:r>
            <a:r>
              <a:rPr lang="ru-RU" sz="800" dirty="0"/>
              <a:t> прав доступу.</a:t>
            </a:r>
            <a:endParaRPr lang="LID4096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1614062" y="194114"/>
            <a:ext cx="67738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Постановка </a:t>
            </a:r>
            <a:r>
              <a:rPr lang="ru-RU" dirty="0" err="1"/>
              <a:t>задачі</a:t>
            </a:r>
            <a:r>
              <a:rPr lang="ru-RU" dirty="0"/>
              <a:t> та </a:t>
            </a:r>
            <a:r>
              <a:rPr lang="ru-RU" dirty="0" err="1"/>
              <a:t>опис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endParaRPr dirty="0"/>
          </a:p>
        </p:txBody>
      </p:sp>
      <p:sp>
        <p:nvSpPr>
          <p:cNvPr id="501" name="Google Shape;501;p62"/>
          <p:cNvSpPr txBox="1">
            <a:spLocks noGrp="1"/>
          </p:cNvSpPr>
          <p:nvPr>
            <p:ph type="subTitle" idx="3"/>
          </p:nvPr>
        </p:nvSpPr>
        <p:spPr>
          <a:xfrm>
            <a:off x="708158" y="883772"/>
            <a:ext cx="4178541" cy="5727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:</a:t>
            </a:r>
            <a:endParaRPr dirty="0"/>
          </a:p>
        </p:txBody>
      </p:sp>
      <p:sp>
        <p:nvSpPr>
          <p:cNvPr id="504" name="Google Shape;504;p62"/>
          <p:cNvSpPr txBox="1">
            <a:spLocks noGrp="1"/>
          </p:cNvSpPr>
          <p:nvPr>
            <p:ph type="subTitle" idx="4"/>
          </p:nvPr>
        </p:nvSpPr>
        <p:spPr>
          <a:xfrm>
            <a:off x="708158" y="1422424"/>
            <a:ext cx="3749542" cy="3220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ru-RU" dirty="0"/>
              <a:t>• </a:t>
            </a:r>
            <a:r>
              <a:rPr lang="ru-RU" dirty="0" err="1"/>
              <a:t>Реєстрація</a:t>
            </a:r>
            <a:r>
              <a:rPr lang="ru-RU" dirty="0"/>
              <a:t> та </a:t>
            </a:r>
            <a:r>
              <a:rPr lang="ru-RU" dirty="0" err="1"/>
              <a:t>авторизація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br>
              <a:rPr lang="ru-RU" dirty="0"/>
            </a:br>
            <a:r>
              <a:rPr lang="ru-RU" dirty="0"/>
              <a:t>• Перегляд і </a:t>
            </a:r>
            <a:r>
              <a:rPr lang="ru-RU" dirty="0" err="1"/>
              <a:t>пошук</a:t>
            </a:r>
            <a:r>
              <a:rPr lang="ru-RU" dirty="0"/>
              <a:t> </a:t>
            </a:r>
            <a:r>
              <a:rPr lang="ru-RU" dirty="0" err="1"/>
              <a:t>доступних</a:t>
            </a:r>
            <a:r>
              <a:rPr lang="ru-RU" dirty="0"/>
              <a:t> </a:t>
            </a:r>
            <a:r>
              <a:rPr lang="ru-RU" dirty="0" err="1"/>
              <a:t>кімнат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Створення</a:t>
            </a:r>
            <a:r>
              <a:rPr lang="ru-RU" dirty="0"/>
              <a:t> та </a:t>
            </a:r>
            <a:r>
              <a:rPr lang="ru-RU" dirty="0" err="1"/>
              <a:t>скасування</a:t>
            </a:r>
            <a:r>
              <a:rPr lang="ru-RU" dirty="0"/>
              <a:t> </a:t>
            </a:r>
            <a:r>
              <a:rPr lang="ru-RU" dirty="0" err="1"/>
              <a:t>бронювань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кімнатами</a:t>
            </a:r>
            <a:r>
              <a:rPr lang="ru-RU" dirty="0"/>
              <a:t> та </a:t>
            </a:r>
            <a:r>
              <a:rPr lang="ru-RU" dirty="0" err="1"/>
              <a:t>користувачами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Обробка</a:t>
            </a:r>
            <a:r>
              <a:rPr lang="ru-RU" dirty="0"/>
              <a:t> заявок </a:t>
            </a:r>
            <a:r>
              <a:rPr lang="ru-RU" dirty="0" err="1"/>
              <a:t>адміністратором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Формування</a:t>
            </a:r>
            <a:r>
              <a:rPr lang="ru-RU" dirty="0"/>
              <a:t> статистики </a:t>
            </a:r>
            <a:r>
              <a:rPr lang="ru-RU" dirty="0" err="1"/>
              <a:t>бронювань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DBEBFC-1CB6-0B32-BA64-77A3D2DDD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049" y="883772"/>
            <a:ext cx="2075796" cy="304627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FC491A3-65EE-972D-D692-751A19326E28}"/>
              </a:ext>
            </a:extLst>
          </p:cNvPr>
          <p:cNvSpPr txBox="1"/>
          <p:nvPr/>
        </p:nvSpPr>
        <p:spPr>
          <a:xfrm>
            <a:off x="5263737" y="4047007"/>
            <a:ext cx="3124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Система </a:t>
            </a:r>
            <a:r>
              <a:rPr lang="ru-RU" sz="800" dirty="0" err="1"/>
              <a:t>RaumReserv</a:t>
            </a:r>
            <a:r>
              <a:rPr lang="ru-RU" sz="800" dirty="0"/>
              <a:t> </a:t>
            </a:r>
            <a:r>
              <a:rPr lang="ru-RU" sz="800" dirty="0" err="1"/>
              <a:t>призначена</a:t>
            </a:r>
            <a:r>
              <a:rPr lang="ru-RU" sz="800" dirty="0"/>
              <a:t> для </a:t>
            </a:r>
            <a:r>
              <a:rPr lang="ru-RU" sz="800" dirty="0" err="1"/>
              <a:t>автоматизації</a:t>
            </a:r>
            <a:r>
              <a:rPr lang="ru-RU" sz="800" dirty="0"/>
              <a:t> </a:t>
            </a:r>
            <a:r>
              <a:rPr lang="ru-RU" sz="800" dirty="0" err="1"/>
              <a:t>процесу</a:t>
            </a:r>
            <a:r>
              <a:rPr lang="ru-RU" sz="800" dirty="0"/>
              <a:t> </a:t>
            </a:r>
            <a:r>
              <a:rPr lang="ru-RU" sz="800" dirty="0" err="1"/>
              <a:t>бронювання</a:t>
            </a:r>
            <a:r>
              <a:rPr lang="ru-RU" sz="800" dirty="0"/>
              <a:t> </a:t>
            </a:r>
            <a:r>
              <a:rPr lang="ru-RU" sz="800" dirty="0" err="1"/>
              <a:t>кімнат</a:t>
            </a:r>
            <a:r>
              <a:rPr lang="ru-RU" sz="800" dirty="0"/>
              <a:t> у </a:t>
            </a:r>
            <a:r>
              <a:rPr lang="ru-RU" sz="800" dirty="0" err="1"/>
              <a:t>коворкінгу</a:t>
            </a:r>
            <a:r>
              <a:rPr lang="ru-RU" sz="800" dirty="0"/>
              <a:t> та </a:t>
            </a:r>
            <a:r>
              <a:rPr lang="ru-RU" sz="800" dirty="0" err="1"/>
              <a:t>спрощення</a:t>
            </a:r>
            <a:r>
              <a:rPr lang="ru-RU" sz="800" dirty="0"/>
              <a:t> </a:t>
            </a:r>
            <a:r>
              <a:rPr lang="ru-RU" sz="800" dirty="0" err="1"/>
              <a:t>роботи</a:t>
            </a:r>
            <a:r>
              <a:rPr lang="ru-RU" sz="800" dirty="0"/>
              <a:t> </a:t>
            </a:r>
            <a:r>
              <a:rPr lang="ru-RU" sz="800" dirty="0" err="1"/>
              <a:t>адміністраторів</a:t>
            </a:r>
            <a:r>
              <a:rPr lang="ru-RU" sz="800" dirty="0"/>
              <a:t>.</a:t>
            </a:r>
            <a:endParaRPr lang="LID4096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title"/>
          </p:nvPr>
        </p:nvSpPr>
        <p:spPr>
          <a:xfrm>
            <a:off x="1576200" y="370162"/>
            <a:ext cx="6304150" cy="1045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dirty="0" err="1"/>
              <a:t>Проєктування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2A6DA-0E91-1AB7-8F64-7E8FD130B44D}"/>
              </a:ext>
            </a:extLst>
          </p:cNvPr>
          <p:cNvSpPr txBox="1"/>
          <p:nvPr/>
        </p:nvSpPr>
        <p:spPr>
          <a:xfrm>
            <a:off x="519113" y="1624855"/>
            <a:ext cx="481012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сутності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endParaRPr lang="ru-RU" b="1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Users</a:t>
            </a:r>
            <a:r>
              <a:rPr lang="en-US" dirty="0"/>
              <a:t> —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та </a:t>
            </a:r>
            <a:r>
              <a:rPr lang="ru-RU" dirty="0" err="1"/>
              <a:t>адміністраторів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Rooms</a:t>
            </a:r>
            <a:r>
              <a:rPr lang="en-US" dirty="0"/>
              <a:t> — </a:t>
            </a:r>
            <a:r>
              <a:rPr lang="ru-RU" dirty="0" err="1"/>
              <a:t>інформація</a:t>
            </a:r>
            <a:r>
              <a:rPr lang="ru-RU" dirty="0"/>
              <a:t> про </a:t>
            </a:r>
            <a:r>
              <a:rPr lang="ru-RU" dirty="0" err="1"/>
              <a:t>кімнати</a:t>
            </a:r>
            <a:r>
              <a:rPr lang="ru-RU" dirty="0"/>
              <a:t> для </a:t>
            </a:r>
            <a:r>
              <a:rPr lang="ru-RU" dirty="0" err="1"/>
              <a:t>бронювання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Bookings</a:t>
            </a:r>
            <a:r>
              <a:rPr lang="en-US" dirty="0"/>
              <a:t> — </a:t>
            </a:r>
            <a:r>
              <a:rPr lang="ru-RU" dirty="0" err="1"/>
              <a:t>дані</a:t>
            </a:r>
            <a:r>
              <a:rPr lang="ru-RU" dirty="0"/>
              <a:t> про </a:t>
            </a:r>
            <a:r>
              <a:rPr lang="ru-RU" dirty="0" err="1"/>
              <a:t>створені</a:t>
            </a:r>
            <a:r>
              <a:rPr lang="ru-RU" dirty="0"/>
              <a:t> </a:t>
            </a:r>
            <a:r>
              <a:rPr lang="ru-RU" dirty="0" err="1"/>
              <a:t>бронювання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Amenities</a:t>
            </a:r>
            <a:r>
              <a:rPr lang="en-US" dirty="0"/>
              <a:t> — </a:t>
            </a:r>
            <a:r>
              <a:rPr lang="ru-RU" dirty="0" err="1"/>
              <a:t>перелік</a:t>
            </a:r>
            <a:r>
              <a:rPr lang="ru-RU" dirty="0"/>
              <a:t> </a:t>
            </a:r>
            <a:r>
              <a:rPr lang="ru-RU" dirty="0" err="1"/>
              <a:t>доступних</a:t>
            </a:r>
            <a:r>
              <a:rPr lang="ru-RU" dirty="0"/>
              <a:t> </a:t>
            </a:r>
            <a:r>
              <a:rPr lang="ru-RU" dirty="0" err="1"/>
              <a:t>зручностей</a:t>
            </a:r>
            <a:r>
              <a:rPr lang="ru-RU" dirty="0"/>
              <a:t> </a:t>
            </a:r>
            <a:r>
              <a:rPr lang="ru-RU" dirty="0" err="1"/>
              <a:t>кімнат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 err="1"/>
              <a:t>BookingStatuses</a:t>
            </a:r>
            <a:r>
              <a:rPr lang="en-US" dirty="0"/>
              <a:t> — </a:t>
            </a:r>
            <a:r>
              <a:rPr lang="ru-RU" dirty="0" err="1"/>
              <a:t>статуси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заявок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E7214E-19F2-C8D5-E01C-F2D009CAA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37" y="1539589"/>
            <a:ext cx="3277131" cy="2485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Вибір</a:t>
            </a:r>
            <a:r>
              <a:rPr lang="ru-RU" dirty="0"/>
              <a:t> </a:t>
            </a:r>
            <a:r>
              <a:rPr lang="ru-RU" dirty="0" err="1"/>
              <a:t>технологій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endParaRPr dirty="0"/>
          </a:p>
        </p:txBody>
      </p:sp>
      <p:pic>
        <p:nvPicPr>
          <p:cNvPr id="4098" name="Picture 2" descr="React – Wikipedia">
            <a:extLst>
              <a:ext uri="{FF2B5EF4-FFF2-40B4-BE49-F238E27FC236}">
                <a16:creationId xmlns:a16="http://schemas.microsoft.com/office/drawing/2014/main" id="{E451AB45-4916-0AA0-3B8F-1111A6354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677" y="1017725"/>
            <a:ext cx="872373" cy="77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91B193-566D-EBA6-4045-9E17732D9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929" y="1849395"/>
            <a:ext cx="1046215" cy="1030905"/>
          </a:xfrm>
          <a:prstGeom prst="rect">
            <a:avLst/>
          </a:prstGeom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94AD94DB-A7D1-80A0-CEEC-F0CE9C2B5D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6350" y="1487685"/>
            <a:ext cx="37882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 Web API (.NET 8)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Core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1A242-1C9A-872F-8CA7-9E7125649F98}"/>
              </a:ext>
            </a:extLst>
          </p:cNvPr>
          <p:cNvSpPr txBox="1"/>
          <p:nvPr/>
        </p:nvSpPr>
        <p:spPr>
          <a:xfrm>
            <a:off x="1352820" y="1151075"/>
            <a:ext cx="253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Backend</a:t>
            </a:r>
            <a:endParaRPr lang="LID4096" sz="2000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6C741-01B2-0E3F-FE2A-E38C28824D05}"/>
              </a:ext>
            </a:extLst>
          </p:cNvPr>
          <p:cNvSpPr txBox="1"/>
          <p:nvPr/>
        </p:nvSpPr>
        <p:spPr>
          <a:xfrm>
            <a:off x="5014886" y="1151075"/>
            <a:ext cx="253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Frontend</a:t>
            </a:r>
            <a:endParaRPr lang="LID4096" sz="2000" u="sng" dirty="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0367F74D-7595-A1B1-4B6C-8F66BE33A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420" y="1487685"/>
            <a:ext cx="864339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React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Axios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Vite</a:t>
            </a:r>
            <a:endParaRPr lang="LID4096" altLang="LID4096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04C2A-2713-3C3F-87AF-1654065123E8}"/>
              </a:ext>
            </a:extLst>
          </p:cNvPr>
          <p:cNvSpPr txBox="1"/>
          <p:nvPr/>
        </p:nvSpPr>
        <p:spPr>
          <a:xfrm>
            <a:off x="1819594" y="2963068"/>
            <a:ext cx="3660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u="sng" dirty="0"/>
              <a:t>База </a:t>
            </a:r>
            <a:r>
              <a:rPr lang="ru-RU" sz="2000" u="sng" dirty="0" err="1"/>
              <a:t>даних</a:t>
            </a:r>
            <a:r>
              <a:rPr lang="ru-RU" sz="2000" u="sng" dirty="0"/>
              <a:t> та </a:t>
            </a:r>
            <a:r>
              <a:rPr lang="ru-RU" sz="2000" u="sng" dirty="0" err="1"/>
              <a:t>розгортання</a:t>
            </a:r>
            <a:endParaRPr lang="LID4096" sz="2000" u="sng" dirty="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BF0DB3CA-7402-9D40-1406-E3D1D996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861" y="3323011"/>
            <a:ext cx="1518364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PostgreSQL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Supabase</a:t>
            </a:r>
            <a:endParaRPr lang="en-US" altLang="LID4096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LID4096" sz="1800" dirty="0">
                <a:solidFill>
                  <a:schemeClr val="tx1"/>
                </a:solidFill>
                <a:latin typeface="Arial" panose="020B0604020202020204" pitchFamily="34" charset="0"/>
              </a:rPr>
              <a:t>Render</a:t>
            </a:r>
            <a:endParaRPr lang="LID4096" altLang="LID4096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108" name="Picture 12" descr="Power up your applications with Supabase">
            <a:extLst>
              <a:ext uri="{FF2B5EF4-FFF2-40B4-BE49-F238E27FC236}">
                <a16:creationId xmlns:a16="http://schemas.microsoft.com/office/drawing/2014/main" id="{F7BD6629-9508-C2E8-566B-1A94B8DDE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951" y="2682194"/>
            <a:ext cx="1141969" cy="114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Deploy to Render · Actions · GitHub Marketplace · GitHub">
            <a:extLst>
              <a:ext uri="{FF2B5EF4-FFF2-40B4-BE49-F238E27FC236}">
                <a16:creationId xmlns:a16="http://schemas.microsoft.com/office/drawing/2014/main" id="{8CD96FE4-EB64-BBB3-22EE-DAA684C95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112" y="3692389"/>
            <a:ext cx="1092013" cy="109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серверної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2F16A-A63C-6611-90F9-8A78BDFD5ACF}"/>
              </a:ext>
            </a:extLst>
          </p:cNvPr>
          <p:cNvSpPr txBox="1"/>
          <p:nvPr/>
        </p:nvSpPr>
        <p:spPr>
          <a:xfrm>
            <a:off x="234104" y="1070275"/>
            <a:ext cx="481965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dirty="0"/>
              <a:t>Структура </a:t>
            </a:r>
            <a:r>
              <a:rPr lang="en-US" b="1" dirty="0"/>
              <a:t>backend-</a:t>
            </a:r>
            <a:r>
              <a:rPr lang="ru-RU" b="1" dirty="0" err="1"/>
              <a:t>проєкту</a:t>
            </a:r>
            <a:r>
              <a:rPr lang="ru-RU" b="1" dirty="0"/>
              <a:t>: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API</a:t>
            </a:r>
            <a:r>
              <a:rPr lang="en-US" dirty="0"/>
              <a:t> — </a:t>
            </a:r>
            <a:r>
              <a:rPr lang="ru-RU" dirty="0" err="1"/>
              <a:t>контролери</a:t>
            </a:r>
            <a:r>
              <a:rPr lang="ru-RU" dirty="0"/>
              <a:t> та </a:t>
            </a:r>
            <a:r>
              <a:rPr lang="en-US" dirty="0"/>
              <a:t>REST API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Application</a:t>
            </a:r>
            <a:r>
              <a:rPr lang="en-US" dirty="0"/>
              <a:t> — DTO </a:t>
            </a:r>
            <a:r>
              <a:rPr lang="ru-RU" dirty="0"/>
              <a:t>та </a:t>
            </a:r>
            <a:r>
              <a:rPr lang="ru-RU" dirty="0" err="1"/>
              <a:t>бізнес-інтерфейси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Domain</a:t>
            </a:r>
            <a:r>
              <a:rPr lang="en-US" dirty="0"/>
              <a:t> — </a:t>
            </a:r>
            <a:r>
              <a:rPr lang="ru-RU" dirty="0" err="1"/>
              <a:t>сутності</a:t>
            </a:r>
            <a:r>
              <a:rPr lang="ru-RU" dirty="0"/>
              <a:t> та </a:t>
            </a:r>
            <a:r>
              <a:rPr lang="ru-RU" dirty="0" err="1"/>
              <a:t>перерахування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en-US" b="1" dirty="0"/>
              <a:t>Infrastructure</a:t>
            </a:r>
            <a:r>
              <a:rPr lang="en-US" dirty="0"/>
              <a:t> — </a:t>
            </a:r>
            <a:r>
              <a:rPr lang="ru-RU" dirty="0"/>
              <a:t>робота з БД та </a:t>
            </a:r>
            <a:r>
              <a:rPr lang="ru-RU" dirty="0" err="1"/>
              <a:t>сервісами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D07BEA-F07C-58CE-4E42-B4431184C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754" y="1071734"/>
            <a:ext cx="1466299" cy="19953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2984C9-0FEB-C44D-DFD6-0B9114CD0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385" y="1070275"/>
            <a:ext cx="1223858" cy="199531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4F8475-1FAB-769F-EDA2-38DF2BB11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754" y="3237552"/>
            <a:ext cx="1356530" cy="13348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1861BE-5CD9-F686-6E6F-BF1A1D7CF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053" y="3237552"/>
            <a:ext cx="1334825" cy="133482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A80F62-F44D-90F3-DBFB-29D37D030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039" y="2920766"/>
            <a:ext cx="2787127" cy="1490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E18F0295-C81B-9139-8D7D-82922DD9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A936305E-2A2F-817D-03F7-A3AC1880B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клієнтської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9176DF-C87E-90B9-0341-7BD687B3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392" y="1148419"/>
            <a:ext cx="1159478" cy="34226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00AB2-8290-8BD4-7893-CEE322833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70" y="1580582"/>
            <a:ext cx="1274925" cy="2414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BDC85A-F915-E59E-4B9C-296ED49499F9}"/>
              </a:ext>
            </a:extLst>
          </p:cNvPr>
          <p:cNvSpPr txBox="1"/>
          <p:nvPr/>
        </p:nvSpPr>
        <p:spPr>
          <a:xfrm>
            <a:off x="436563" y="958730"/>
            <a:ext cx="381158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компоненти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r>
              <a:rPr lang="ru-RU" b="1" dirty="0"/>
              <a:t>: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Сторінка</a:t>
            </a:r>
            <a:r>
              <a:rPr lang="ru-RU" dirty="0"/>
              <a:t> </a:t>
            </a:r>
            <a:r>
              <a:rPr lang="ru-RU" dirty="0" err="1"/>
              <a:t>авторизації</a:t>
            </a:r>
            <a:r>
              <a:rPr lang="ru-RU" dirty="0"/>
              <a:t> та </a:t>
            </a:r>
            <a:r>
              <a:rPr lang="ru-RU" dirty="0" err="1"/>
              <a:t>реєстрації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Каталог </a:t>
            </a:r>
            <a:r>
              <a:rPr lang="ru-RU" dirty="0" err="1"/>
              <a:t>кімнат</a:t>
            </a:r>
            <a:r>
              <a:rPr lang="ru-RU" dirty="0"/>
              <a:t> з </a:t>
            </a:r>
            <a:r>
              <a:rPr lang="ru-RU" dirty="0" err="1"/>
              <a:t>пошуком</a:t>
            </a:r>
            <a:r>
              <a:rPr lang="ru-RU" dirty="0"/>
              <a:t> і </a:t>
            </a:r>
            <a:r>
              <a:rPr lang="ru-RU" dirty="0" err="1"/>
              <a:t>фільтрацією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Перегляд </a:t>
            </a:r>
            <a:r>
              <a:rPr lang="ru-RU" dirty="0" err="1"/>
              <a:t>інформації</a:t>
            </a:r>
            <a:r>
              <a:rPr lang="ru-RU" dirty="0"/>
              <a:t> про </a:t>
            </a:r>
            <a:r>
              <a:rPr lang="ru-RU" dirty="0" err="1"/>
              <a:t>кімнату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бронювання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Особистий</a:t>
            </a:r>
            <a:r>
              <a:rPr lang="ru-RU" dirty="0"/>
              <a:t> </a:t>
            </a:r>
            <a:r>
              <a:rPr lang="ru-RU" dirty="0" err="1"/>
              <a:t>кабінет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Адміністративна</a:t>
            </a:r>
            <a:r>
              <a:rPr lang="ru-RU" dirty="0"/>
              <a:t> панель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88A1576-0E14-7250-CAAE-BACE7BE1B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731" y="2979675"/>
            <a:ext cx="2444750" cy="159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3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B64DFCD-DEAB-B27A-FDE2-231377502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FB7FD5E1-ED10-B0FC-C014-60EB9CD6A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A45C7-8242-CCA8-485A-EA64042C532E}"/>
              </a:ext>
            </a:extLst>
          </p:cNvPr>
          <p:cNvSpPr txBox="1"/>
          <p:nvPr/>
        </p:nvSpPr>
        <p:spPr>
          <a:xfrm>
            <a:off x="277813" y="1111130"/>
            <a:ext cx="381158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компоненти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r>
              <a:rPr lang="ru-RU" b="1" dirty="0"/>
              <a:t>: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Сторінка</a:t>
            </a:r>
            <a:r>
              <a:rPr lang="ru-RU" dirty="0"/>
              <a:t> </a:t>
            </a:r>
            <a:r>
              <a:rPr lang="ru-RU" dirty="0" err="1"/>
              <a:t>авторизації</a:t>
            </a:r>
            <a:r>
              <a:rPr lang="ru-RU" dirty="0"/>
              <a:t> та </a:t>
            </a:r>
            <a:r>
              <a:rPr lang="ru-RU" dirty="0" err="1"/>
              <a:t>реєстрації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Каталог </a:t>
            </a:r>
            <a:r>
              <a:rPr lang="ru-RU" dirty="0" err="1"/>
              <a:t>кімнат</a:t>
            </a:r>
            <a:r>
              <a:rPr lang="ru-RU" dirty="0"/>
              <a:t> з </a:t>
            </a:r>
            <a:r>
              <a:rPr lang="ru-RU" dirty="0" err="1"/>
              <a:t>пошуком</a:t>
            </a:r>
            <a:r>
              <a:rPr lang="ru-RU" dirty="0"/>
              <a:t> і </a:t>
            </a:r>
            <a:r>
              <a:rPr lang="ru-RU" dirty="0" err="1"/>
              <a:t>фільтрацією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Перегляд </a:t>
            </a:r>
            <a:r>
              <a:rPr lang="ru-RU" dirty="0" err="1"/>
              <a:t>інформації</a:t>
            </a:r>
            <a:r>
              <a:rPr lang="ru-RU" dirty="0"/>
              <a:t> про </a:t>
            </a:r>
            <a:r>
              <a:rPr lang="ru-RU" dirty="0" err="1"/>
              <a:t>кімнату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бронювання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Особистий</a:t>
            </a:r>
            <a:r>
              <a:rPr lang="ru-RU" dirty="0"/>
              <a:t> </a:t>
            </a:r>
            <a:r>
              <a:rPr lang="ru-RU" dirty="0" err="1"/>
              <a:t>кабінет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endParaRPr lang="ru-RU" dirty="0"/>
          </a:p>
          <a:p>
            <a:pPr>
              <a:lnSpc>
                <a:spcPct val="150000"/>
              </a:lnSpc>
              <a:buNone/>
            </a:pPr>
            <a:r>
              <a:rPr lang="ru-RU" dirty="0"/>
              <a:t>• </a:t>
            </a:r>
            <a:r>
              <a:rPr lang="ru-RU" dirty="0" err="1"/>
              <a:t>Адміністративна</a:t>
            </a:r>
            <a:r>
              <a:rPr lang="ru-RU" dirty="0"/>
              <a:t> панель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D67108-2C3E-3706-AA74-DC8E8C734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765" y="3092451"/>
            <a:ext cx="2990470" cy="14936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5CF5A5-9F96-B351-2512-7E874E9A6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068" y="3092451"/>
            <a:ext cx="2999932" cy="14936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F92996-EBD2-0900-A994-F3043DC86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878" y="1288696"/>
            <a:ext cx="3238713" cy="162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8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1140B8A-3815-20A4-9743-C8F224EE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BD7045A1-9AAD-952D-9179-86BD9BE03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050" y="445024"/>
            <a:ext cx="5679900" cy="1212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розробленого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1959487-7010-51FD-8F0B-5FC545709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21809"/>
              </p:ext>
            </p:extLst>
          </p:nvPr>
        </p:nvGraphicFramePr>
        <p:xfrm>
          <a:off x="712788" y="1730375"/>
          <a:ext cx="7718424" cy="2133600"/>
        </p:xfrm>
        <a:graphic>
          <a:graphicData uri="http://schemas.openxmlformats.org/drawingml/2006/table">
            <a:tbl>
              <a:tblPr>
                <a:tableStyleId>{3FC5437D-9D59-4E6D-8C16-D147194F9B7F}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4068805974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160618822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Тестовий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сценарій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03423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Реєстрація користувача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52438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Авторизація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користувача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3732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Перегляд списку кімнат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Успішно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3416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Створення бронювання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Успішно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25163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Підтвердження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бронювання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Успішно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6781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Керування користувачами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 err="1"/>
                        <a:t>Успішно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536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34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C7A7196D-02B5-BDAB-8511-7885CAA2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>
            <a:extLst>
              <a:ext uri="{FF2B5EF4-FFF2-40B4-BE49-F238E27FC236}">
                <a16:creationId xmlns:a16="http://schemas.microsoft.com/office/drawing/2014/main" id="{4261EC86-2E64-A8B4-7767-A4A2DDE9F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9375" y="516145"/>
            <a:ext cx="2065250" cy="678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err="1"/>
              <a:t>Висновки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2AA85-C5EB-3CCE-D4DF-5CF5648ED8B8}"/>
              </a:ext>
            </a:extLst>
          </p:cNvPr>
          <p:cNvSpPr txBox="1"/>
          <p:nvPr/>
        </p:nvSpPr>
        <p:spPr>
          <a:xfrm>
            <a:off x="461962" y="1327944"/>
            <a:ext cx="8408988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курсового </a:t>
            </a:r>
            <a:r>
              <a:rPr lang="ru-RU" dirty="0" err="1"/>
              <a:t>проєкту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розроблено</a:t>
            </a:r>
            <a:r>
              <a:rPr lang="ru-RU" dirty="0"/>
              <a:t> веб-систему </a:t>
            </a:r>
            <a:r>
              <a:rPr lang="ru-RU" dirty="0" err="1"/>
              <a:t>бронювання</a:t>
            </a:r>
            <a:r>
              <a:rPr lang="ru-RU" dirty="0"/>
              <a:t> </a:t>
            </a:r>
            <a:r>
              <a:rPr lang="ru-RU" dirty="0" err="1"/>
              <a:t>кімнат</a:t>
            </a:r>
            <a:r>
              <a:rPr lang="ru-RU" dirty="0"/>
              <a:t> </a:t>
            </a:r>
            <a:r>
              <a:rPr lang="ru-RU" dirty="0" err="1"/>
              <a:t>RaumReserv</a:t>
            </a:r>
            <a:r>
              <a:rPr lang="ru-RU" dirty="0"/>
              <a:t>, яка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автоматизацію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бронюваннями</a:t>
            </a:r>
            <a:r>
              <a:rPr lang="ru-RU" dirty="0"/>
              <a:t> у </a:t>
            </a:r>
            <a:r>
              <a:rPr lang="ru-RU" dirty="0" err="1"/>
              <a:t>коворкінгу</a:t>
            </a:r>
            <a:r>
              <a:rPr lang="ru-RU" dirty="0"/>
              <a:t>.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проведено </a:t>
            </a:r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err="1"/>
              <a:t>предметної</a:t>
            </a:r>
            <a:r>
              <a:rPr lang="ru-RU" dirty="0"/>
              <a:t> </a:t>
            </a:r>
            <a:r>
              <a:rPr lang="ru-RU" dirty="0" err="1"/>
              <a:t>галузі</a:t>
            </a:r>
            <a:r>
              <a:rPr lang="ru-RU" dirty="0"/>
              <a:t>, </a:t>
            </a:r>
            <a:r>
              <a:rPr lang="ru-RU" dirty="0" err="1"/>
              <a:t>спроєктовано</a:t>
            </a:r>
            <a:r>
              <a:rPr lang="ru-RU" dirty="0"/>
              <a:t> </a:t>
            </a:r>
            <a:r>
              <a:rPr lang="ru-RU" dirty="0" err="1"/>
              <a:t>архітектуру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та структуру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реалізовано</a:t>
            </a:r>
            <a:r>
              <a:rPr lang="ru-RU" dirty="0"/>
              <a:t> </a:t>
            </a:r>
            <a:r>
              <a:rPr lang="ru-RU" dirty="0" err="1"/>
              <a:t>клієнтську</a:t>
            </a:r>
            <a:r>
              <a:rPr lang="ru-RU" dirty="0"/>
              <a:t> та </a:t>
            </a:r>
            <a:r>
              <a:rPr lang="ru-RU" dirty="0" err="1"/>
              <a:t>серверну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</a:t>
            </a:r>
            <a:r>
              <a:rPr lang="ru-RU" dirty="0" err="1"/>
              <a:t>застосунку</a:t>
            </a:r>
            <a:r>
              <a:rPr lang="ru-RU" dirty="0"/>
              <a:t>, а також </a:t>
            </a:r>
            <a:r>
              <a:rPr lang="ru-RU" dirty="0" err="1"/>
              <a:t>виконано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основних</a:t>
            </a:r>
            <a:r>
              <a:rPr lang="ru-RU" dirty="0"/>
              <a:t> </a:t>
            </a:r>
            <a:r>
              <a:rPr lang="ru-RU" dirty="0" err="1"/>
              <a:t>функціональних</a:t>
            </a:r>
            <a:r>
              <a:rPr lang="ru-RU" dirty="0"/>
              <a:t> </a:t>
            </a:r>
            <a:r>
              <a:rPr lang="ru-RU" dirty="0" err="1"/>
              <a:t>можливостей</a:t>
            </a:r>
            <a:r>
              <a:rPr lang="ru-RU" dirty="0"/>
              <a:t>. </a:t>
            </a:r>
            <a:r>
              <a:rPr lang="ru-RU" dirty="0" err="1"/>
              <a:t>Отримані</a:t>
            </a:r>
            <a:r>
              <a:rPr lang="ru-RU" dirty="0"/>
              <a:t> </a:t>
            </a:r>
            <a:r>
              <a:rPr lang="ru-RU" dirty="0" err="1"/>
              <a:t>результати</a:t>
            </a:r>
            <a:r>
              <a:rPr lang="ru-RU" dirty="0"/>
              <a:t> </a:t>
            </a:r>
            <a:r>
              <a:rPr lang="ru-RU" dirty="0" err="1"/>
              <a:t>підтвердили</a:t>
            </a:r>
            <a:r>
              <a:rPr lang="ru-RU" dirty="0"/>
              <a:t> </a:t>
            </a:r>
            <a:r>
              <a:rPr lang="ru-RU" dirty="0" err="1"/>
              <a:t>працездатність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та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поставленим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6870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534</Words>
  <Application>Microsoft Office PowerPoint</Application>
  <PresentationFormat>Экран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Montserrat</vt:lpstr>
      <vt:lpstr>Crimson Text</vt:lpstr>
      <vt:lpstr>Arial</vt:lpstr>
      <vt:lpstr>Vidaloka</vt:lpstr>
      <vt:lpstr>Lato</vt:lpstr>
      <vt:lpstr>Minimalist Business Slides XL by Slidesgo</vt:lpstr>
      <vt:lpstr>Комплексний курсовий проєкт</vt:lpstr>
      <vt:lpstr>Аналіз процесу бронювання</vt:lpstr>
      <vt:lpstr>Аналіз проблеми</vt:lpstr>
      <vt:lpstr>Аналіз аналогів</vt:lpstr>
      <vt:lpstr>Постановка задачі та опис системи</vt:lpstr>
      <vt:lpstr>Проєктування структури бази даних</vt:lpstr>
      <vt:lpstr>Вибір технологій розробки</vt:lpstr>
      <vt:lpstr>Реалізація серверної частини</vt:lpstr>
      <vt:lpstr>Реалізація клієнтської частини</vt:lpstr>
      <vt:lpstr>Інтерфейс користувача</vt:lpstr>
      <vt:lpstr>Тестування розробленого програмного забезпечення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Григорій Зінченко</cp:lastModifiedBy>
  <cp:revision>3</cp:revision>
  <dcterms:modified xsi:type="dcterms:W3CDTF">2026-06-10T20:02:34Z</dcterms:modified>
</cp:coreProperties>
</file>